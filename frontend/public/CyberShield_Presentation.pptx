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371600" y="914400"/>
            <a:ext cx="9448495" cy="5029200"/>
          </a:xfrm>
          <a:prstGeom prst="roundRect">
            <a:avLst/>
          </a:prstGeom>
          <a:solidFill>
            <a:srgbClr val="070B14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188720"/>
            <a:ext cx="853409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6B6D4"/>
                </a:solidFill>
              </a:defRPr>
            </a:pPr>
            <a:r>
              <a:t>[ AI &amp; CYBER DEFENSE INNOVATION ]</a:t>
            </a:r>
          </a:p>
          <a:p>
            <a:pPr algn="ctr">
              <a:defRPr sz="4400" b="1">
                <a:solidFill>
                  <a:srgbClr val="FFFFFF"/>
                </a:solidFill>
              </a:defRPr>
            </a:pPr>
            <a:r>
              <a:t>CyberShield</a:t>
            </a:r>
          </a:p>
          <a:p>
            <a:pPr algn="ctr">
              <a:spcAft>
                <a:spcPts val="2000"/>
              </a:spcAft>
              <a:defRPr sz="1800">
                <a:solidFill>
                  <a:srgbClr val="93C5FD"/>
                </a:solidFill>
              </a:defRPr>
            </a:pPr>
            <a:r>
              <a:t>AI-Powered Digital Attack Prediction &amp; Adaptive Deception System</a:t>
            </a:r>
          </a:p>
          <a:p>
            <a:pPr>
              <a:spcAft>
                <a:spcPts val="800"/>
              </a:spcAft>
              <a:defRPr sz="1300">
                <a:solidFill>
                  <a:srgbClr val="E2E8F0"/>
                </a:solidFill>
              </a:defRPr>
            </a:pPr>
            <a:r>
              <a:t>• Core Concept: An autonomous cybersecurity platform that flips the advantage against cyber attackers by predicting their next moves, trapping them in realistic decoy environments, and neutralizing threats before data breaches occur.</a:t>
            </a:r>
          </a:p>
          <a:p>
            <a:pPr>
              <a:spcAft>
                <a:spcPts val="800"/>
              </a:spcAft>
              <a:defRPr sz="1300">
                <a:solidFill>
                  <a:srgbClr val="E2E8F0"/>
                </a:solidFill>
              </a:defRPr>
            </a:pPr>
            <a:r>
              <a:t>• Key Paradigm: PREDICT  -&gt;  DECEIVE  -&gt;  OBSERVE  -&gt;  LEARN  -&gt;  DEFEND</a:t>
            </a:r>
          </a:p>
          <a:p>
            <a:pPr>
              <a:spcAft>
                <a:spcPts val="800"/>
              </a:spcAft>
              <a:defRPr sz="1300">
                <a:solidFill>
                  <a:srgbClr val="E2E8F0"/>
                </a:solidFill>
              </a:defRPr>
            </a:pPr>
            <a:r>
              <a:t>• Design Philosophy: Move beyond reactive 'detect-and-block' firewalls by combining AI threat prediction, adaptive honeypots, attacker de-anonymization, and automated defense.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548640"/>
            <a:ext cx="10728655" cy="5760720"/>
          </a:xfrm>
          <a:prstGeom prst="roundRect">
            <a:avLst/>
          </a:prstGeom>
          <a:solidFill>
            <a:srgbClr val="070B14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731520"/>
            <a:ext cx="99971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SLIDE 2 OF 10  |  THE CYBERSECURITY PROBLEM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Why Traditional Firewalls Fail</a:t>
            </a:r>
          </a:p>
          <a:p>
            <a:pPr>
              <a:spcAft>
                <a:spcPts val="1600"/>
              </a:spcAft>
              <a:defRPr sz="1400">
                <a:solidFill>
                  <a:srgbClr val="93C5FD"/>
                </a:solidFill>
              </a:defRPr>
            </a:pPr>
            <a:r>
              <a:t>The fundamental flaw in reactive 'Detect &amp; Block' security models</a:t>
            </a:r>
          </a:p>
          <a:p>
            <a:pPr>
              <a:defRPr sz="1500" b="1">
                <a:solidFill>
                  <a:srgbClr val="38BDF8"/>
                </a:solidFill>
              </a:defRPr>
            </a:pPr>
            <a:r>
              <a:t>▶ The Attacker Asymmetry</a:t>
            </a:r>
          </a:p>
          <a:p>
            <a:pPr>
              <a:spcAft>
                <a:spcPts val="1000"/>
              </a:spcAft>
              <a:defRPr sz="1200">
                <a:solidFill>
                  <a:srgbClr val="E2E8F0"/>
                </a:solidFill>
              </a:defRPr>
            </a:pPr>
            <a:r>
              <a:t>Traditional firewalls only react after an attack hits. Attackers get unlimited free attempts to probe, scan, and find a single weakness.</a:t>
            </a:r>
          </a:p>
          <a:p>
            <a:pPr>
              <a:defRPr sz="1500" b="1">
                <a:solidFill>
                  <a:srgbClr val="38BDF8"/>
                </a:solidFill>
              </a:defRPr>
            </a:pPr>
            <a:r>
              <a:t>▶ Cloaked Infiltration</a:t>
            </a:r>
          </a:p>
          <a:p>
            <a:pPr>
              <a:spcAft>
                <a:spcPts val="1000"/>
              </a:spcAft>
              <a:defRPr sz="1200">
                <a:solidFill>
                  <a:srgbClr val="E2E8F0"/>
                </a:solidFill>
              </a:defRPr>
            </a:pPr>
            <a:r>
              <a:t>Modern adversaries hide behind VPNs, Tor exit nodes, and residential proxies. When blocked, they immediately switch to a new IP address.</a:t>
            </a:r>
          </a:p>
          <a:p>
            <a:pPr>
              <a:defRPr sz="1500" b="1">
                <a:solidFill>
                  <a:srgbClr val="38BDF8"/>
                </a:solidFill>
              </a:defRPr>
            </a:pPr>
            <a:r>
              <a:t>▶ Zero-Day Blindspots</a:t>
            </a:r>
          </a:p>
          <a:p>
            <a:pPr>
              <a:spcAft>
                <a:spcPts val="1000"/>
              </a:spcAft>
              <a:defRPr sz="1200">
                <a:solidFill>
                  <a:srgbClr val="E2E8F0"/>
                </a:solidFill>
              </a:defRPr>
            </a:pPr>
            <a:r>
              <a:t>Signature-based antivirus tools cannot stop unknown zero-day exploits. Once inside, hackers move laterally undetected for an average of 200+ days.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548640"/>
            <a:ext cx="10728655" cy="5760720"/>
          </a:xfrm>
          <a:prstGeom prst="roundRect">
            <a:avLst/>
          </a:prstGeom>
          <a:solidFill>
            <a:srgbClr val="070B14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731520"/>
            <a:ext cx="99971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SLIDE 3 OF 10  |  THE NEW STRATEGY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The CyberShield Paradigm</a:t>
            </a:r>
          </a:p>
          <a:p>
            <a:pPr>
              <a:spcAft>
                <a:spcPts val="1600"/>
              </a:spcAft>
              <a:defRPr sz="1400">
                <a:solidFill>
                  <a:srgbClr val="93C5FD"/>
                </a:solidFill>
              </a:defRPr>
            </a:pPr>
            <a:r>
              <a:t>Shifting from reactive defense to proactive deception &amp; behavioral analysis</a:t>
            </a:r>
          </a:p>
          <a:p>
            <a:pPr>
              <a:defRPr sz="1500" b="1">
                <a:solidFill>
                  <a:srgbClr val="38BDF8"/>
                </a:solidFill>
              </a:defRPr>
            </a:pPr>
            <a:r>
              <a:t>▶ 1. Predict</a:t>
            </a:r>
          </a:p>
          <a:p>
            <a:pPr>
              <a:spcAft>
                <a:spcPts val="1000"/>
              </a:spcAft>
              <a:defRPr sz="1200">
                <a:solidFill>
                  <a:srgbClr val="E2E8F0"/>
                </a:solidFill>
              </a:defRPr>
            </a:pPr>
            <a:r>
              <a:t>AI analyzes incoming traffic patterns, headers, and commands to forecast the attacker's next moves.</a:t>
            </a:r>
          </a:p>
          <a:p>
            <a:pPr>
              <a:defRPr sz="1500" b="1">
                <a:solidFill>
                  <a:srgbClr val="38BDF8"/>
                </a:solidFill>
              </a:defRPr>
            </a:pPr>
            <a:r>
              <a:t>▶ 2. Deceive</a:t>
            </a:r>
          </a:p>
          <a:p>
            <a:pPr>
              <a:spcAft>
                <a:spcPts val="1000"/>
              </a:spcAft>
              <a:defRPr sz="1200">
                <a:solidFill>
                  <a:srgbClr val="E2E8F0"/>
                </a:solidFill>
              </a:defRPr>
            </a:pPr>
            <a:r>
              <a:t>Instead of showing a 403 Forbidden error, the system feeds attackers realistic fake data, simulated portals, and dummy databases.</a:t>
            </a:r>
          </a:p>
          <a:p>
            <a:pPr>
              <a:defRPr sz="1500" b="1">
                <a:solidFill>
                  <a:srgbClr val="38BDF8"/>
                </a:solidFill>
              </a:defRPr>
            </a:pPr>
            <a:r>
              <a:t>▶ 3. Observe &amp; Learn</a:t>
            </a:r>
          </a:p>
          <a:p>
            <a:pPr>
              <a:spcAft>
                <a:spcPts val="1000"/>
              </a:spcAft>
              <a:defRPr sz="1200">
                <a:solidFill>
                  <a:srgbClr val="E2E8F0"/>
                </a:solidFill>
              </a:defRPr>
            </a:pPr>
            <a:r>
              <a:t>Adversaries spend hours hacking useless decoy traps while CyberShield records their tools, fingerprints, and techniques.</a:t>
            </a:r>
          </a:p>
          <a:p>
            <a:pPr>
              <a:defRPr sz="1500" b="1">
                <a:solidFill>
                  <a:srgbClr val="38BDF8"/>
                </a:solidFill>
              </a:defRPr>
            </a:pPr>
            <a:r>
              <a:t>▶ 4. Defend</a:t>
            </a:r>
          </a:p>
          <a:p>
            <a:pPr>
              <a:spcAft>
                <a:spcPts val="1000"/>
              </a:spcAft>
              <a:defRPr sz="1200">
                <a:solidFill>
                  <a:srgbClr val="E2E8F0"/>
                </a:solidFill>
              </a:defRPr>
            </a:pPr>
            <a:r>
              <a:t>The system automatically unmasks real IP/MAC addresses, extracts threat intelligence, and executes automated firewall drop rules.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548640"/>
            <a:ext cx="10728655" cy="5760720"/>
          </a:xfrm>
          <a:prstGeom prst="roundRect">
            <a:avLst/>
          </a:prstGeom>
          <a:solidFill>
            <a:srgbClr val="070B14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731520"/>
            <a:ext cx="99971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SLIDE 4 OF 10  |  ARTIFICIAL INTELLIGENCE CORE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AI Attack Prediction &amp; Kill-Chain Foresight</a:t>
            </a:r>
          </a:p>
          <a:p>
            <a:pPr>
              <a:spcAft>
                <a:spcPts val="1600"/>
              </a:spcAft>
              <a:defRPr sz="1400">
                <a:solidFill>
                  <a:srgbClr val="93C5FD"/>
                </a:solidFill>
              </a:defRPr>
            </a:pPr>
            <a:r>
              <a:t>Anticipating the adversary's next 3 steps using Machine Learning &amp; Markov Models</a:t>
            </a:r>
          </a:p>
          <a:p>
            <a:pPr>
              <a:defRPr sz="1500" b="1">
                <a:solidFill>
                  <a:srgbClr val="38BDF8"/>
                </a:solidFill>
              </a:defRPr>
            </a:pPr>
            <a:r>
              <a:t>▶ Random Forest Classifier</a:t>
            </a:r>
          </a:p>
          <a:p>
            <a:pPr>
              <a:spcAft>
                <a:spcPts val="1000"/>
              </a:spcAft>
              <a:defRPr sz="1200">
                <a:solidFill>
                  <a:srgbClr val="E2E8F0"/>
                </a:solidFill>
              </a:defRPr>
            </a:pPr>
            <a:r>
              <a:t>Categorizes incoming payloads in sub-2ms into: Reconnaissance, Brute Force, Web Injection (SQLi/XSS), Privilege Escalation, and Data Exfiltration.</a:t>
            </a:r>
          </a:p>
          <a:p>
            <a:pPr>
              <a:defRPr sz="1500" b="1">
                <a:solidFill>
                  <a:srgbClr val="38BDF8"/>
                </a:solidFill>
              </a:defRPr>
            </a:pPr>
            <a:r>
              <a:t>▶ Markov Kill-Chain Sequence Engine</a:t>
            </a:r>
          </a:p>
          <a:p>
            <a:pPr>
              <a:spcAft>
                <a:spcPts val="1000"/>
              </a:spcAft>
              <a:defRPr sz="1200">
                <a:solidFill>
                  <a:srgbClr val="E2E8F0"/>
                </a:solidFill>
              </a:defRPr>
            </a:pPr>
            <a:r>
              <a:t>Maps the MITRE ATT&amp;CK progression. Example: If an attacker runs a Recon scan, CyberShield calculates a 48% probability of SQL Injection and automatically prepares decoy database traps in advance.</a:t>
            </a:r>
          </a:p>
          <a:p>
            <a:pPr>
              <a:defRPr sz="1500" b="1">
                <a:solidFill>
                  <a:srgbClr val="38BDF8"/>
                </a:solidFill>
              </a:defRPr>
            </a:pPr>
            <a:r>
              <a:t>▶ Dynamic Risk Scoring (0 to 100)</a:t>
            </a:r>
          </a:p>
          <a:p>
            <a:pPr>
              <a:spcAft>
                <a:spcPts val="1000"/>
              </a:spcAft>
              <a:defRPr sz="1200">
                <a:solidFill>
                  <a:srgbClr val="E2E8F0"/>
                </a:solidFill>
              </a:defRPr>
            </a:pPr>
            <a:r>
              <a:t>Calculates payload entropy, signature confidence, and reputation score to assign Low, Medium, High, or Critical threat tiers.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548640"/>
            <a:ext cx="10728655" cy="5760720"/>
          </a:xfrm>
          <a:prstGeom prst="roundRect">
            <a:avLst/>
          </a:prstGeom>
          <a:solidFill>
            <a:srgbClr val="070B14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731520"/>
            <a:ext cx="99971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SLIDE 5 OF 10  |  ACTIVE DECEPTION LAYER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Adaptive Honeypots &amp; Canary Tripwires</a:t>
            </a:r>
          </a:p>
          <a:p>
            <a:pPr>
              <a:spcAft>
                <a:spcPts val="1600"/>
              </a:spcAft>
              <a:defRPr sz="1400">
                <a:solidFill>
                  <a:srgbClr val="93C5FD"/>
                </a:solidFill>
              </a:defRPr>
            </a:pPr>
            <a:r>
              <a:t>Planting digital landmines and fake assets to mislead and trap hackers</a:t>
            </a:r>
          </a:p>
          <a:p>
            <a:pPr>
              <a:defRPr sz="1500" b="1">
                <a:solidFill>
                  <a:srgbClr val="38BDF8"/>
                </a:solidFill>
              </a:defRPr>
            </a:pPr>
            <a:r>
              <a:t>▶ Dynamic Decoy Services</a:t>
            </a:r>
          </a:p>
          <a:p>
            <a:pPr>
              <a:spcAft>
                <a:spcPts val="1000"/>
              </a:spcAft>
              <a:defRPr sz="1200">
                <a:solidFill>
                  <a:srgbClr val="E2E8F0"/>
                </a:solidFill>
              </a:defRPr>
            </a:pPr>
            <a:r>
              <a:t>Automatically deploys fake Admin Portals (/admin/auth), dummy REST APIs, synthetic database dumps (customer_financials.sql), and infinite SSH tarpits (Port 2222).</a:t>
            </a:r>
          </a:p>
          <a:p>
            <a:pPr>
              <a:defRPr sz="1500" b="1">
                <a:solidFill>
                  <a:srgbClr val="38BDF8"/>
                </a:solidFill>
              </a:defRPr>
            </a:pPr>
            <a:r>
              <a:t>▶ What is a Canary Token?</a:t>
            </a:r>
          </a:p>
          <a:p>
            <a:pPr>
              <a:spcAft>
                <a:spcPts val="1000"/>
              </a:spcAft>
              <a:defRPr sz="1200">
                <a:solidFill>
                  <a:srgbClr val="E2E8F0"/>
                </a:solidFill>
              </a:defRPr>
            </a:pPr>
            <a:r>
              <a:t>A digital tripwire! CyberShield plants watermarked fake AWS API keys and JWT tokens. The moment an attacker steals or uses them, an instant high-priority alarm fires.</a:t>
            </a:r>
          </a:p>
          <a:p>
            <a:pPr>
              <a:defRPr sz="1500" b="1">
                <a:solidFill>
                  <a:srgbClr val="38BDF8"/>
                </a:solidFill>
              </a:defRPr>
            </a:pPr>
            <a:r>
              <a:t>▶ Cognitive Confusion for Hackers</a:t>
            </a:r>
          </a:p>
          <a:p>
            <a:pPr>
              <a:spcAft>
                <a:spcPts val="1000"/>
              </a:spcAft>
              <a:defRPr sz="1200">
                <a:solidFill>
                  <a:srgbClr val="E2E8F0"/>
                </a:solidFill>
              </a:defRPr>
            </a:pPr>
            <a:r>
              <a:t>Attackers believe they have breached sensitive databases, wasting their time and resources on fabricated zero-value data.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548640"/>
            <a:ext cx="10728655" cy="5760720"/>
          </a:xfrm>
          <a:prstGeom prst="roundRect">
            <a:avLst/>
          </a:prstGeom>
          <a:solidFill>
            <a:srgbClr val="070B14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731520"/>
            <a:ext cx="99971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SLIDE 6 OF 10  |  THREAT ATTRIBUTION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Attacker De-Anonymization &amp; Physical GPS Mapping</a:t>
            </a:r>
          </a:p>
          <a:p>
            <a:pPr>
              <a:spcAft>
                <a:spcPts val="1600"/>
              </a:spcAft>
              <a:defRPr sz="1400">
                <a:solidFill>
                  <a:srgbClr val="93C5FD"/>
                </a:solidFill>
              </a:defRPr>
            </a:pPr>
            <a:r>
              <a:t>Unmasking adversaries hidden behind commercial VPNs, Proxies, and Tor gateways</a:t>
            </a:r>
          </a:p>
          <a:p>
            <a:pPr>
              <a:defRPr sz="1500" b="1">
                <a:solidFill>
                  <a:srgbClr val="38BDF8"/>
                </a:solidFill>
              </a:defRPr>
            </a:pPr>
            <a:r>
              <a:t>▶ VPN &amp; Proxy Detection</a:t>
            </a:r>
          </a:p>
          <a:p>
            <a:pPr>
              <a:spcAft>
                <a:spcPts val="1000"/>
              </a:spcAft>
              <a:defRPr sz="1200">
                <a:solidFill>
                  <a:srgbClr val="E2E8F0"/>
                </a:solidFill>
              </a:defRPr>
            </a:pPr>
            <a:r>
              <a:t>Identifies commercial VPN tunnels (Nord, Mullvad, M247) and Tor exit relays by analyzing TCP TTL, MTU packet sizes, and ASN reputation databases.</a:t>
            </a:r>
          </a:p>
          <a:p>
            <a:pPr>
              <a:defRPr sz="1500" b="1">
                <a:solidFill>
                  <a:srgbClr val="38BDF8"/>
                </a:solidFill>
              </a:defRPr>
            </a:pPr>
            <a:r>
              <a:t>▶ WebRTC Internal LAN IP Leak</a:t>
            </a:r>
          </a:p>
          <a:p>
            <a:pPr>
              <a:spcAft>
                <a:spcPts val="1000"/>
              </a:spcAft>
              <a:defRPr sz="1200">
                <a:solidFill>
                  <a:srgbClr val="E2E8F0"/>
                </a:solidFill>
              </a:defRPr>
            </a:pPr>
            <a:r>
              <a:t>Extracts the attacker's real private internal subnet IP (e.g. 192.168.1.54) leaked through browser STUN candidate reflex exchange.</a:t>
            </a:r>
          </a:p>
          <a:p>
            <a:pPr>
              <a:defRPr sz="1500" b="1">
                <a:solidFill>
                  <a:srgbClr val="38BDF8"/>
                </a:solidFill>
              </a:defRPr>
            </a:pPr>
            <a:r>
              <a:t>▶ Layer-2 MAC &amp; Real Port Tracking</a:t>
            </a:r>
          </a:p>
          <a:p>
            <a:pPr>
              <a:spcAft>
                <a:spcPts val="1000"/>
              </a:spcAft>
              <a:defRPr sz="1200">
                <a:solidFill>
                  <a:srgbClr val="E2E8F0"/>
                </a:solidFill>
              </a:defRPr>
            </a:pPr>
            <a:r>
              <a:t>Resolves hardware MAC addresses via ARP cache in lab/intranet setups, and tracks the exact source ephemeral socket port (e.g. 53500).</a:t>
            </a:r>
          </a:p>
          <a:p>
            <a:pPr>
              <a:defRPr sz="1500" b="1">
                <a:solidFill>
                  <a:srgbClr val="38BDF8"/>
                </a:solidFill>
              </a:defRPr>
            </a:pPr>
            <a:r>
              <a:t>▶ Global GPS Threat Radar</a:t>
            </a:r>
          </a:p>
          <a:p>
            <a:pPr>
              <a:spcAft>
                <a:spcPts val="1000"/>
              </a:spcAft>
              <a:defRPr sz="1200">
                <a:solidFill>
                  <a:srgbClr val="E2E8F0"/>
                </a:solidFill>
              </a:defRPr>
            </a:pPr>
            <a:r>
              <a:t>Resolves physical Latitude/Longitude coordinates, City, Country, and displays interactive distance calculations and satellite map links.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548640"/>
            <a:ext cx="10728655" cy="5760720"/>
          </a:xfrm>
          <a:prstGeom prst="roundRect">
            <a:avLst/>
          </a:prstGeom>
          <a:solidFill>
            <a:srgbClr val="070B14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731520"/>
            <a:ext cx="99971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SLIDE 7 OF 10  |  AUTONOMOUS RESPONSE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Automated Defense &amp; Kernel Firewall</a:t>
            </a:r>
          </a:p>
          <a:p>
            <a:pPr>
              <a:spcAft>
                <a:spcPts val="1600"/>
              </a:spcAft>
              <a:defRPr sz="1400">
                <a:solidFill>
                  <a:srgbClr val="93C5FD"/>
                </a:solidFill>
              </a:defRPr>
            </a:pPr>
            <a:r>
              <a:t>Instant mitigation without requiring manual operator intervention</a:t>
            </a:r>
          </a:p>
          <a:p>
            <a:pPr>
              <a:defRPr sz="1500" b="1">
                <a:solidFill>
                  <a:srgbClr val="38BDF8"/>
                </a:solidFill>
              </a:defRPr>
            </a:pPr>
            <a:r>
              <a:t>▶ Auto-Firewall Blacklisting</a:t>
            </a:r>
          </a:p>
          <a:p>
            <a:pPr>
              <a:spcAft>
                <a:spcPts val="1000"/>
              </a:spcAft>
              <a:defRPr sz="1200">
                <a:solidFill>
                  <a:srgbClr val="E2E8F0"/>
                </a:solidFill>
              </a:defRPr>
            </a:pPr>
            <a:r>
              <a:t>When risk score exceeds 72/100 or a Canary token is tripped, CyberShield instantly enforces a kernel-level IP_DROP_BLOCK rule.</a:t>
            </a:r>
          </a:p>
          <a:p>
            <a:pPr>
              <a:defRPr sz="1500" b="1">
                <a:solidFill>
                  <a:srgbClr val="38BDF8"/>
                </a:solidFill>
              </a:defRPr>
            </a:pPr>
            <a:r>
              <a:t>▶ Deception Sandbox Isolation</a:t>
            </a:r>
          </a:p>
          <a:p>
            <a:pPr>
              <a:spcAft>
                <a:spcPts val="1000"/>
              </a:spcAft>
              <a:defRPr sz="1200">
                <a:solidFill>
                  <a:srgbClr val="E2E8F0"/>
                </a:solidFill>
              </a:defRPr>
            </a:pPr>
            <a:r>
              <a:t>Suspicious intermediate sessions (Score 50-70) are silently routed to an isolated container sandbox where malware can be safely studied in real-time.</a:t>
            </a:r>
          </a:p>
          <a:p>
            <a:pPr>
              <a:defRPr sz="1500" b="1">
                <a:solidFill>
                  <a:srgbClr val="38BDF8"/>
                </a:solidFill>
              </a:defRPr>
            </a:pPr>
            <a:r>
              <a:t>▶ Dropped Packet Telemetry</a:t>
            </a:r>
          </a:p>
          <a:p>
            <a:pPr>
              <a:spcAft>
                <a:spcPts val="1000"/>
              </a:spcAft>
              <a:defRPr sz="1200">
                <a:solidFill>
                  <a:srgbClr val="E2E8F0"/>
                </a:solidFill>
              </a:defRPr>
            </a:pPr>
            <a:r>
              <a:t>Monitors dropped attack requests, maintains active quarantine logs, and allows one-click operator override (Block/Unblock).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548640"/>
            <a:ext cx="10728655" cy="5760720"/>
          </a:xfrm>
          <a:prstGeom prst="roundRect">
            <a:avLst/>
          </a:prstGeom>
          <a:solidFill>
            <a:srgbClr val="070B14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731520"/>
            <a:ext cx="99971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SLIDE 8 OF 10  |  SITUATIONAL AWARENESS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Attack-Path Visualizer &amp; SOC Operations</a:t>
            </a:r>
          </a:p>
          <a:p>
            <a:pPr>
              <a:spcAft>
                <a:spcPts val="1600"/>
              </a:spcAft>
              <a:defRPr sz="1400">
                <a:solidFill>
                  <a:srgbClr val="93C5FD"/>
                </a:solidFill>
              </a:defRPr>
            </a:pPr>
            <a:r>
              <a:t>Mapping real-time intrusion flow and enterprise MITRE ATT&amp;CK coverage</a:t>
            </a:r>
          </a:p>
          <a:p>
            <a:pPr>
              <a:defRPr sz="1500" b="1">
                <a:solidFill>
                  <a:srgbClr val="38BDF8"/>
                </a:solidFill>
              </a:defRPr>
            </a:pPr>
            <a:r>
              <a:t>▶ Interactive Traversal Graph</a:t>
            </a:r>
          </a:p>
          <a:p>
            <a:pPr>
              <a:spcAft>
                <a:spcPts val="1000"/>
              </a:spcAft>
              <a:defRPr sz="1200">
                <a:solidFill>
                  <a:srgbClr val="E2E8F0"/>
                </a:solidFill>
              </a:defRPr>
            </a:pPr>
            <a:r>
              <a:t>Renders animated visual paths: Attacker IP  -&gt;  Probe Vector  -&gt;  Honeypot Decoy  -&gt;  Canary Token  -&gt;  Quarantine.</a:t>
            </a:r>
          </a:p>
          <a:p>
            <a:pPr>
              <a:defRPr sz="1500" b="1">
                <a:solidFill>
                  <a:srgbClr val="38BDF8"/>
                </a:solidFill>
              </a:defRPr>
            </a:pPr>
            <a:r>
              <a:t>▶ MITRE ATT&amp;CK Matrix Alignment</a:t>
            </a:r>
          </a:p>
          <a:p>
            <a:pPr>
              <a:spcAft>
                <a:spcPts val="1000"/>
              </a:spcAft>
              <a:defRPr sz="1200">
                <a:solidFill>
                  <a:srgbClr val="E2E8F0"/>
                </a:solidFill>
              </a:defRPr>
            </a:pPr>
            <a:r>
              <a:t>Maps each attack event to standard industry techniques (T1595 Recon, T1110 Brute Force, T1190 Exploit, T1068 Priv-Esc, T1048 Exfiltration).</a:t>
            </a:r>
          </a:p>
          <a:p>
            <a:pPr>
              <a:defRPr sz="1500" b="1">
                <a:solidFill>
                  <a:srgbClr val="38BDF8"/>
                </a:solidFill>
              </a:defRPr>
            </a:pPr>
            <a:r>
              <a:t>▶ Digital Forensics Vault</a:t>
            </a:r>
          </a:p>
          <a:p>
            <a:pPr>
              <a:spcAft>
                <a:spcPts val="1000"/>
              </a:spcAft>
              <a:defRPr sz="1200">
                <a:solidFill>
                  <a:srgbClr val="E2E8F0"/>
                </a:solidFill>
              </a:defRPr>
            </a:pPr>
            <a:r>
              <a:t>Records raw HTTP headers, payload hex strings, timestamps, and generates 1-click exportable Forensic Incident JSON reports.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548640"/>
            <a:ext cx="10728655" cy="5760720"/>
          </a:xfrm>
          <a:prstGeom prst="roundRect">
            <a:avLst/>
          </a:prstGeom>
          <a:solidFill>
            <a:srgbClr val="070B14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731520"/>
            <a:ext cx="99971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SLIDE 9 OF 10  |  EVALUATION &amp; VERIFICATION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Interactive Cyber Attack Simulation Lab</a:t>
            </a:r>
          </a:p>
          <a:p>
            <a:pPr>
              <a:spcAft>
                <a:spcPts val="1600"/>
              </a:spcAft>
              <a:defRPr sz="1400">
                <a:solidFill>
                  <a:srgbClr val="93C5FD"/>
                </a:solidFill>
              </a:defRPr>
            </a:pPr>
            <a:r>
              <a:t>Testing the autonomous defense pipeline with realistic multi-vector cyber attacks</a:t>
            </a:r>
          </a:p>
          <a:p>
            <a:pPr>
              <a:defRPr sz="1500" b="1">
                <a:solidFill>
                  <a:srgbClr val="38BDF8"/>
                </a:solidFill>
              </a:defRPr>
            </a:pPr>
            <a:r>
              <a:t>▶ 1. Reconnaissance Scan</a:t>
            </a:r>
          </a:p>
          <a:p>
            <a:pPr>
              <a:spcAft>
                <a:spcPts val="1000"/>
              </a:spcAft>
              <a:defRPr sz="1200">
                <a:solidFill>
                  <a:srgbClr val="E2E8F0"/>
                </a:solidFill>
              </a:defRPr>
            </a:pPr>
            <a:r>
              <a:t>Simulates Nmap/Nikto vulnerability probing on actuator and health endpoints.</a:t>
            </a:r>
          </a:p>
          <a:p>
            <a:pPr>
              <a:defRPr sz="1500" b="1">
                <a:solidFill>
                  <a:srgbClr val="38BDF8"/>
                </a:solidFill>
              </a:defRPr>
            </a:pPr>
            <a:r>
              <a:t>▶ 2. SSH Brute Force</a:t>
            </a:r>
          </a:p>
          <a:p>
            <a:pPr>
              <a:spcAft>
                <a:spcPts val="1000"/>
              </a:spcAft>
              <a:defRPr sz="1200">
                <a:solidFill>
                  <a:srgbClr val="E2E8F0"/>
                </a:solidFill>
              </a:defRPr>
            </a:pPr>
            <a:r>
              <a:t>Launches dictionary password guessing on decoy port 2222 with infinite delay tarpits.</a:t>
            </a:r>
          </a:p>
          <a:p>
            <a:pPr>
              <a:defRPr sz="1500" b="1">
                <a:solidFill>
                  <a:srgbClr val="38BDF8"/>
                </a:solidFill>
              </a:defRPr>
            </a:pPr>
            <a:r>
              <a:t>▶ 3. SQL Database Injection</a:t>
            </a:r>
          </a:p>
          <a:p>
            <a:pPr>
              <a:spcAft>
                <a:spcPts val="1000"/>
              </a:spcAft>
              <a:defRPr sz="1200">
                <a:solidFill>
                  <a:srgbClr val="E2E8F0"/>
                </a:solidFill>
              </a:defRPr>
            </a:pPr>
            <a:r>
              <a:t>Executes UNION SELECT exploits; CyberShield serves watermarked synthetic records.</a:t>
            </a:r>
          </a:p>
          <a:p>
            <a:pPr>
              <a:defRPr sz="1500" b="1">
                <a:solidFill>
                  <a:srgbClr val="38BDF8"/>
                </a:solidFill>
              </a:defRPr>
            </a:pPr>
            <a:r>
              <a:t>▶ 4. Canary Token Exfiltration</a:t>
            </a:r>
          </a:p>
          <a:p>
            <a:pPr>
              <a:spcAft>
                <a:spcPts val="1000"/>
              </a:spcAft>
              <a:defRPr sz="1200">
                <a:solidFill>
                  <a:srgbClr val="E2E8F0"/>
                </a:solidFill>
              </a:defRPr>
            </a:pPr>
            <a:r>
              <a:t>Adversary steals fake .env keys; CyberShield traces the token query and instantly triggers automated IP drop.</a:t>
            </a:r>
          </a:p>
          <a:p>
            <a:pPr>
              <a:defRPr sz="1500" b="1">
                <a:solidFill>
                  <a:srgbClr val="38BDF8"/>
                </a:solidFill>
              </a:defRPr>
            </a:pPr>
            <a:r>
              <a:t>▶ 5. VPN-Cloaked Infiltration</a:t>
            </a:r>
          </a:p>
          <a:p>
            <a:pPr>
              <a:spcAft>
                <a:spcPts val="1000"/>
              </a:spcAft>
              <a:defRPr sz="1200">
                <a:solidFill>
                  <a:srgbClr val="E2E8F0"/>
                </a:solidFill>
              </a:defRPr>
            </a:pPr>
            <a:r>
              <a:t>Tests WebRTC de-anonymization, real port discovery, and physical GPS coordinate lookup.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548640"/>
            <a:ext cx="10728655" cy="5760720"/>
          </a:xfrm>
          <a:prstGeom prst="roundRect">
            <a:avLst/>
          </a:prstGeom>
          <a:solidFill>
            <a:srgbClr val="070B14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731520"/>
            <a:ext cx="99971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SLIDE 10 OF 10  |  CONCLUSION &amp; IMPACT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The Future of Proactive Cyber Defense</a:t>
            </a:r>
          </a:p>
          <a:p>
            <a:pPr>
              <a:spcAft>
                <a:spcPts val="1600"/>
              </a:spcAft>
              <a:defRPr sz="1400">
                <a:solidFill>
                  <a:srgbClr val="93C5FD"/>
                </a:solidFill>
              </a:defRPr>
            </a:pPr>
            <a:r>
              <a:t>Empowering both enterprise real-time security and next-generation cybersecurity training</a:t>
            </a:r>
          </a:p>
          <a:p>
            <a:pPr>
              <a:defRPr sz="1500" b="1">
                <a:solidFill>
                  <a:srgbClr val="38BDF8"/>
                </a:solidFill>
              </a:defRPr>
            </a:pPr>
            <a:r>
              <a:t>▶ Key Architectural Takeaway</a:t>
            </a:r>
          </a:p>
          <a:p>
            <a:pPr>
              <a:spcAft>
                <a:spcPts val="1000"/>
              </a:spcAft>
              <a:defRPr sz="1200">
                <a:solidFill>
                  <a:srgbClr val="E2E8F0"/>
                </a:solidFill>
              </a:defRPr>
            </a:pPr>
            <a:r>
              <a:t>CyberShield turns the traditional defender's dilemma upside down: defenders no longer need to be right 100% of the time, because attackers are trapped in believable illusions.</a:t>
            </a:r>
          </a:p>
          <a:p>
            <a:pPr>
              <a:defRPr sz="1500" b="1">
                <a:solidFill>
                  <a:srgbClr val="38BDF8"/>
                </a:solidFill>
              </a:defRPr>
            </a:pPr>
            <a:r>
              <a:t>▶ Dual Utility</a:t>
            </a:r>
          </a:p>
          <a:p>
            <a:pPr>
              <a:spcAft>
                <a:spcPts val="1000"/>
              </a:spcAft>
              <a:defRPr sz="1200">
                <a:solidFill>
                  <a:srgbClr val="E2E8F0"/>
                </a:solidFill>
              </a:defRPr>
            </a:pPr>
            <a:r>
              <a:t>Serves as an autonomous perimeter defense mesh for enterprises, and as a safe digital forensic sandbox for training cybersecurity professionals.</a:t>
            </a:r>
          </a:p>
          <a:p>
            <a:pPr>
              <a:defRPr sz="1500" b="1">
                <a:solidFill>
                  <a:srgbClr val="38BDF8"/>
                </a:solidFill>
              </a:defRPr>
            </a:pPr>
            <a:r>
              <a:t>▶ Full Open-Source Stack</a:t>
            </a:r>
          </a:p>
          <a:p>
            <a:pPr>
              <a:spcAft>
                <a:spcPts val="1000"/>
              </a:spcAft>
              <a:defRPr sz="1200">
                <a:solidFill>
                  <a:srgbClr val="E2E8F0"/>
                </a:solidFill>
              </a:defRPr>
            </a:pPr>
            <a:r>
              <a:t>Python FastAPI, Scikit-Learn, PyTorch, React, Tailwind CSS, WebSockets, and GPS Geolocation Engine.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
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249527" y="640080"/>
            <a:ext cx="9692640" cy="5577840"/>
          </a:xfrm>
          <a:prstGeom prst="roundRect">
            <a:avLst/>
          </a:prstGeom>
          <a:solidFill>
            <a:srgbClr val="060A1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06727" y="960120"/>
            <a:ext cx="8778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SLIDE 1 OF 10  •  [ AI &amp; CYBER DEFENSE INNOVATION ]</a:t>
            </a:r>
          </a:p>
          <a:p>
            <a:pPr algn="ctr">
              <a:spcBef>
                <a:spcPts val="400"/>
              </a:spcBef>
              <a:defRPr sz="3600" b="1">
                <a:solidFill>
                  <a:srgbClr val="FFFFFF"/>
                </a:solidFill>
              </a:defRPr>
            </a:pPr>
            <a:r>
              <a:t>CyberShield</a:t>
            </a:r>
          </a:p>
          <a:p>
            <a:pPr algn="ctr">
              <a:spcAft>
                <a:spcPts val="1400"/>
              </a:spcAft>
              <a:defRPr sz="1300">
                <a:solidFill>
                  <a:srgbClr val="93C5FD"/>
                </a:solidFill>
              </a:defRPr>
            </a:pPr>
            <a:r>
              <a:t>AI-Powered Digital Attack Prediction &amp; Adaptive Deception System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Core Concept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An autonomous cybersecurity platform that flips the advantage against cyber attackers by predicting their next moves, trapping them in realistic decoy environments, and neutralizing threats before data breaches occur.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Key Paradigm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PREDICT  -&gt;  DECEIVE  -&gt;  OBSERVE  -&gt;  LEARN  -&gt;  DEFEND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Design Philosophy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Move beyond reactive 'detect-and-block' firewalls by combining AI threat prediction, adaptive honeypots, attacker de-anonymization, and automated defense.</a:t>
            </a:r>
          </a:p>
          <a:p>
            <a:pPr algn="ctr">
              <a:spcBef>
                <a:spcPts val="600"/>
              </a:spcBef>
              <a:defRPr sz="1050" b="1">
                <a:solidFill>
                  <a:srgbClr val="FDE047"/>
                </a:solidFill>
              </a:defRPr>
            </a:pPr>
            <a:r>
              <a:t>💡 Key Cybersecurity Takeaway: Deception-based defense gives defenders the upper hand by confusing and trapping adversaries instead of just blocking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249527" y="640080"/>
            <a:ext cx="9692640" cy="5577840"/>
          </a:xfrm>
          <a:prstGeom prst="roundRect">
            <a:avLst/>
          </a:prstGeom>
          <a:solidFill>
            <a:srgbClr val="060A1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06727" y="960120"/>
            <a:ext cx="8778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SLIDE 2 OF 10  •  [ THE CYBERSECURITY PROBLEM ]</a:t>
            </a:r>
          </a:p>
          <a:p>
            <a:pPr algn="ctr">
              <a:spcBef>
                <a:spcPts val="400"/>
              </a:spcBef>
              <a:defRPr sz="3000" b="1">
                <a:solidFill>
                  <a:srgbClr val="FFFFFF"/>
                </a:solidFill>
              </a:defRPr>
            </a:pPr>
            <a:r>
              <a:t>Why Traditional Firewalls Fail</a:t>
            </a:r>
          </a:p>
          <a:p>
            <a:pPr algn="ctr">
              <a:spcAft>
                <a:spcPts val="1400"/>
              </a:spcAft>
              <a:defRPr sz="1300">
                <a:solidFill>
                  <a:srgbClr val="93C5FD"/>
                </a:solidFill>
              </a:defRPr>
            </a:pPr>
            <a:r>
              <a:t>The fundamental flaw in reactive 'Detect &amp; Block' security models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The Attacker Asymmetry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Traditional firewalls only react after an attack hits. Attackers get unlimited free attempts to probe, scan, and find a single weakness.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Cloaked Infiltration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Modern adversaries hide behind VPNs, Tor exit nodes, and residential proxies. When blocked, they immediately switch to a new IP address in seconds.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Zero-Day Blindspots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Signature-based antivirus tools cannot stop unknown zero-day exploits. Once inside, hackers move laterally undetected for an average of 200+ days.</a:t>
            </a:r>
          </a:p>
          <a:p>
            <a:pPr algn="ctr">
              <a:spcBef>
                <a:spcPts val="600"/>
              </a:spcBef>
              <a:defRPr sz="1050" b="1">
                <a:solidFill>
                  <a:srgbClr val="FDE047"/>
                </a:solidFill>
              </a:defRPr>
            </a:pPr>
            <a:r>
              <a:t>💡 Key Cybersecurity Takeaway: Defenders must succeed 100% of the time, while attackers only need to find ONE flaw. CyberShield flips this asymmetry.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249527" y="640080"/>
            <a:ext cx="9692640" cy="5577840"/>
          </a:xfrm>
          <a:prstGeom prst="roundRect">
            <a:avLst/>
          </a:prstGeom>
          <a:solidFill>
            <a:srgbClr val="060A1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06727" y="960120"/>
            <a:ext cx="8778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SLIDE 3 OF 10  •  [ THE NEW STRATEGY ]</a:t>
            </a:r>
          </a:p>
          <a:p>
            <a:pPr algn="ctr">
              <a:spcBef>
                <a:spcPts val="400"/>
              </a:spcBef>
              <a:defRPr sz="3000" b="1">
                <a:solidFill>
                  <a:srgbClr val="FFFFFF"/>
                </a:solidFill>
              </a:defRPr>
            </a:pPr>
            <a:r>
              <a:t>The CyberShield Paradigm</a:t>
            </a:r>
          </a:p>
          <a:p>
            <a:pPr algn="ctr">
              <a:spcAft>
                <a:spcPts val="1400"/>
              </a:spcAft>
              <a:defRPr sz="1300">
                <a:solidFill>
                  <a:srgbClr val="93C5FD"/>
                </a:solidFill>
              </a:defRPr>
            </a:pPr>
            <a:r>
              <a:t>Shifting from reactive defense to proactive deception &amp; behavioral analysis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1. Predict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AI analyzes incoming traffic patterns, headers, and commands to forecast the attacker's next moves.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2. Deceive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Instead of showing a 403 Forbidden error, the system feeds attackers realistic fake data, simulated portals, and dummy databases.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3. Observe &amp; Defend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Hackers spend hours exploiting useless decoy traps while CyberShield extracts threat intelligence and executes automated firewall drops.</a:t>
            </a:r>
          </a:p>
          <a:p>
            <a:pPr algn="ctr">
              <a:spcBef>
                <a:spcPts val="600"/>
              </a:spcBef>
              <a:defRPr sz="1050" b="1">
                <a:solidFill>
                  <a:srgbClr val="FDE047"/>
                </a:solidFill>
              </a:defRPr>
            </a:pPr>
            <a:r>
              <a:t>💡 Key Cybersecurity Takeaway: By feeding fake data instead of errors, you keep hackers busy attacking illusions while you collect their forensic fingerprints.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249527" y="640080"/>
            <a:ext cx="9692640" cy="5577840"/>
          </a:xfrm>
          <a:prstGeom prst="roundRect">
            <a:avLst/>
          </a:prstGeom>
          <a:solidFill>
            <a:srgbClr val="060A1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06727" y="960120"/>
            <a:ext cx="8778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SLIDE 4 OF 10  •  [ ARTIFICIAL INTELLIGENCE CORE ]</a:t>
            </a:r>
          </a:p>
          <a:p>
            <a:pPr algn="ctr">
              <a:spcBef>
                <a:spcPts val="400"/>
              </a:spcBef>
              <a:defRPr sz="3000" b="1">
                <a:solidFill>
                  <a:srgbClr val="FFFFFF"/>
                </a:solidFill>
              </a:defRPr>
            </a:pPr>
            <a:r>
              <a:t>AI Attack Prediction &amp; Kill-Chain Foresight</a:t>
            </a:r>
          </a:p>
          <a:p>
            <a:pPr algn="ctr">
              <a:spcAft>
                <a:spcPts val="1400"/>
              </a:spcAft>
              <a:defRPr sz="1300">
                <a:solidFill>
                  <a:srgbClr val="93C5FD"/>
                </a:solidFill>
              </a:defRPr>
            </a:pPr>
            <a:r>
              <a:t>Anticipating the adversary's next 3 steps using Machine Learning &amp; Markov Models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Random Forest Classifier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Categorizes incoming payloads in sub-2ms into: Reconnaissance, Brute Force, Web Injection, Privilege Escalation, and Exfiltration.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Markov Kill-Chain Engine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Maps MITRE ATT&amp;CK progression: e.g., Recon scan triggers 48% probability of SQL Injection, preparing decoy database traps in advance.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Dynamic Risk Scoring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Calculates payload entropy, signature confidence, and reputation score to assign Low, Medium, High, or Critical threat tiers (0 to 100).</a:t>
            </a:r>
          </a:p>
          <a:p>
            <a:pPr algn="ctr">
              <a:spcBef>
                <a:spcPts val="600"/>
              </a:spcBef>
              <a:defRPr sz="1050" b="1">
                <a:solidFill>
                  <a:srgbClr val="FDE047"/>
                </a:solidFill>
              </a:defRPr>
            </a:pPr>
            <a:r>
              <a:t>💡 Key Cybersecurity Takeaway: Markov Transition Chains model the hacker's kill-chain flow, allowing defenders to set traps BEFORE the hacker executes the exploit.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249527" y="640080"/>
            <a:ext cx="9692640" cy="5577840"/>
          </a:xfrm>
          <a:prstGeom prst="roundRect">
            <a:avLst/>
          </a:prstGeom>
          <a:solidFill>
            <a:srgbClr val="060A1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06727" y="960120"/>
            <a:ext cx="8778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SLIDE 5 OF 10  •  [ ACTIVE DECEPTION LAYER ]</a:t>
            </a:r>
          </a:p>
          <a:p>
            <a:pPr algn="ctr">
              <a:spcBef>
                <a:spcPts val="400"/>
              </a:spcBef>
              <a:defRPr sz="3000" b="1">
                <a:solidFill>
                  <a:srgbClr val="FFFFFF"/>
                </a:solidFill>
              </a:defRPr>
            </a:pPr>
            <a:r>
              <a:t>Adaptive Honeypots &amp; Canary Tripwires</a:t>
            </a:r>
          </a:p>
          <a:p>
            <a:pPr algn="ctr">
              <a:spcAft>
                <a:spcPts val="1400"/>
              </a:spcAft>
              <a:defRPr sz="1300">
                <a:solidFill>
                  <a:srgbClr val="93C5FD"/>
                </a:solidFill>
              </a:defRPr>
            </a:pPr>
            <a:r>
              <a:t>Planting digital landmines and fake assets to mislead and trap hackers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Dynamic Decoy Services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Automatically deploys fake Admin Portals (/admin/auth), dummy REST APIs, synthetic database dumps, and infinite SSH tarpits (Port 2222).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What is a Canary Token?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Planted fake AWS API keys and JWT tokens. The moment an attacker steals or queries with them, an instant high-priority alarm fires.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Cognitive Confusion for Hackers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Attackers believe they have breached sensitive databases, wasting their time and resources on fabricated zero-value data.</a:t>
            </a:r>
          </a:p>
          <a:p>
            <a:pPr algn="ctr">
              <a:spcBef>
                <a:spcPts val="600"/>
              </a:spcBef>
              <a:defRPr sz="1050" b="1">
                <a:solidFill>
                  <a:srgbClr val="FDE047"/>
                </a:solidFill>
              </a:defRPr>
            </a:pPr>
            <a:r>
              <a:t>💡 Key Cybersecurity Takeaway: Canary Tokens act like radioactive dye: when an attacker steals them, any attempt to use them instantly triggers a critical alert.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249527" y="640080"/>
            <a:ext cx="9692640" cy="5577840"/>
          </a:xfrm>
          <a:prstGeom prst="roundRect">
            <a:avLst/>
          </a:prstGeom>
          <a:solidFill>
            <a:srgbClr val="060A1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06727" y="960120"/>
            <a:ext cx="8778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SLIDE 6 OF 10  •  [ THREAT ATTRIBUTION ]</a:t>
            </a:r>
          </a:p>
          <a:p>
            <a:pPr algn="ctr">
              <a:spcBef>
                <a:spcPts val="400"/>
              </a:spcBef>
              <a:defRPr sz="3000" b="1">
                <a:solidFill>
                  <a:srgbClr val="FFFFFF"/>
                </a:solidFill>
              </a:defRPr>
            </a:pPr>
            <a:r>
              <a:t>Attacker De-Anonymization &amp; Physical GPS Mapping</a:t>
            </a:r>
          </a:p>
          <a:p>
            <a:pPr algn="ctr">
              <a:spcAft>
                <a:spcPts val="1400"/>
              </a:spcAft>
              <a:defRPr sz="1300">
                <a:solidFill>
                  <a:srgbClr val="93C5FD"/>
                </a:solidFill>
              </a:defRPr>
            </a:pPr>
            <a:r>
              <a:t>Unmasking adversaries hidden behind commercial VPNs, Proxies, and Tor gateways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VPN &amp; Proxy Detection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Identifies commercial VPN tunnels (Nord, Mullvad, M247) and Tor exit relays by analyzing TCP TTL, MTU sizes, and ASN databases.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WebRTC Internal LAN IP Leak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Extracts the attacker's real private internal subnet IP (e.g. 192.168.1.54) leaked through browser STUN candidate reflex exchange.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Layer-2 MAC &amp; Real Port Tracking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Resolves hardware MAC addresses via ARP cache in lab setups, and tracks the exact source ephemeral socket port (e.g. 53500) and GPS location.</a:t>
            </a:r>
          </a:p>
          <a:p>
            <a:pPr algn="ctr">
              <a:spcBef>
                <a:spcPts val="600"/>
              </a:spcBef>
              <a:defRPr sz="1050" b="1">
                <a:solidFill>
                  <a:srgbClr val="FDE047"/>
                </a:solidFill>
              </a:defRPr>
            </a:pPr>
            <a:r>
              <a:t>💡 Key Cybersecurity Takeaway: Browser WebRTC STUN protocols and TCP packet timing can reveal a hacker's true private IP and physical location even behind VPNs.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249527" y="640080"/>
            <a:ext cx="9692640" cy="5577840"/>
          </a:xfrm>
          <a:prstGeom prst="roundRect">
            <a:avLst/>
          </a:prstGeom>
          <a:solidFill>
            <a:srgbClr val="060A1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06727" y="960120"/>
            <a:ext cx="8778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SLIDE 7 OF 10  •  [ AUTONOMOUS RESPONSE ]</a:t>
            </a:r>
          </a:p>
          <a:p>
            <a:pPr algn="ctr">
              <a:spcBef>
                <a:spcPts val="400"/>
              </a:spcBef>
              <a:defRPr sz="3000" b="1">
                <a:solidFill>
                  <a:srgbClr val="FFFFFF"/>
                </a:solidFill>
              </a:defRPr>
            </a:pPr>
            <a:r>
              <a:t>Automated Defense &amp; Kernel Firewall</a:t>
            </a:r>
          </a:p>
          <a:p>
            <a:pPr algn="ctr">
              <a:spcAft>
                <a:spcPts val="1400"/>
              </a:spcAft>
              <a:defRPr sz="1300">
                <a:solidFill>
                  <a:srgbClr val="93C5FD"/>
                </a:solidFill>
              </a:defRPr>
            </a:pPr>
            <a:r>
              <a:t>Instant mitigation without requiring manual operator intervention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Auto-Firewall Blacklisting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When risk score exceeds 72/100 or a Canary token is tripped, CyberShield instantly enforces a kernel-level IP_DROP_BLOCK rule.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Deception Sandbox Isolation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Suspicious intermediate sessions (Score 50-70) are silently routed to an isolated container sandbox where malware can be safely studied.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Dropped Packet Telemetry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Monitors dropped attack requests, maintains active quarantine logs, and allows one-click operator override (Block/Unblock).</a:t>
            </a:r>
          </a:p>
          <a:p>
            <a:pPr algn="ctr">
              <a:spcBef>
                <a:spcPts val="600"/>
              </a:spcBef>
              <a:defRPr sz="1050" b="1">
                <a:solidFill>
                  <a:srgbClr val="FDE047"/>
                </a:solidFill>
              </a:defRPr>
            </a:pPr>
            <a:r>
              <a:t>💡 Key Cybersecurity Takeaway: Automated response closes the critical time gap between threat detection and containment, preventing lateral movement.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249527" y="640080"/>
            <a:ext cx="9692640" cy="5577840"/>
          </a:xfrm>
          <a:prstGeom prst="roundRect">
            <a:avLst/>
          </a:prstGeom>
          <a:solidFill>
            <a:srgbClr val="060A1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06727" y="960120"/>
            <a:ext cx="8778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SLIDE 8 OF 10  •  [ SITUATIONAL AWARENESS ]</a:t>
            </a:r>
          </a:p>
          <a:p>
            <a:pPr algn="ctr">
              <a:spcBef>
                <a:spcPts val="400"/>
              </a:spcBef>
              <a:defRPr sz="3000" b="1">
                <a:solidFill>
                  <a:srgbClr val="FFFFFF"/>
                </a:solidFill>
              </a:defRPr>
            </a:pPr>
            <a:r>
              <a:t>Attack-Path Visualizer &amp; SOC Operations</a:t>
            </a:r>
          </a:p>
          <a:p>
            <a:pPr algn="ctr">
              <a:spcAft>
                <a:spcPts val="1400"/>
              </a:spcAft>
              <a:defRPr sz="1300">
                <a:solidFill>
                  <a:srgbClr val="93C5FD"/>
                </a:solidFill>
              </a:defRPr>
            </a:pPr>
            <a:r>
              <a:t>Mapping real-time intrusion flow and enterprise MITRE ATT&amp;CK coverage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Interactive Traversal Graph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Renders animated visual paths: Attacker IP  -&gt;  Probe Vector  -&gt;  Honeypot Decoy  -&gt;  Canary Token  -&gt;  Quarantine.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MITRE ATT&amp;CK Matrix Alignment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Maps each attack event to standard industry techniques (T1595 Recon, T1110 Brute Force, T1190 Exploit, T1068 Priv-Esc, T1048 Exfiltration).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Digital Forensics Vault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Records raw HTTP headers, payload hex strings, timestamps, and generates 1-click exportable Forensic Incident JSON reports.</a:t>
            </a:r>
          </a:p>
          <a:p>
            <a:pPr algn="ctr">
              <a:spcBef>
                <a:spcPts val="600"/>
              </a:spcBef>
              <a:defRPr sz="1050" b="1">
                <a:solidFill>
                  <a:srgbClr val="FDE047"/>
                </a:solidFill>
              </a:defRPr>
            </a:pPr>
            <a:r>
              <a:t>💡 Key Cybersecurity Takeaway: Graph-based visualization transforms confusing log files into clear visual stories showing how the attacker was outsmarted step-by-step.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249527" y="640080"/>
            <a:ext cx="9692640" cy="5577840"/>
          </a:xfrm>
          <a:prstGeom prst="roundRect">
            <a:avLst/>
          </a:prstGeom>
          <a:solidFill>
            <a:srgbClr val="060A1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06727" y="960120"/>
            <a:ext cx="8778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SLIDE 9 OF 10  •  [ EVALUATION &amp; VERIFICATION ]</a:t>
            </a:r>
          </a:p>
          <a:p>
            <a:pPr algn="ctr">
              <a:spcBef>
                <a:spcPts val="400"/>
              </a:spcBef>
              <a:defRPr sz="3000" b="1">
                <a:solidFill>
                  <a:srgbClr val="FFFFFF"/>
                </a:solidFill>
              </a:defRPr>
            </a:pPr>
            <a:r>
              <a:t>Interactive Cyber Attack Simulation Lab</a:t>
            </a:r>
          </a:p>
          <a:p>
            <a:pPr algn="ctr">
              <a:spcAft>
                <a:spcPts val="1400"/>
              </a:spcAft>
              <a:defRPr sz="1300">
                <a:solidFill>
                  <a:srgbClr val="93C5FD"/>
                </a:solidFill>
              </a:defRPr>
            </a:pPr>
            <a:r>
              <a:t>Testing the autonomous defense pipeline with realistic multi-vector cyber attacks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Multi-Vector Attack Suite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1-Click simulation of Reconnaissance Scans, SSH Brute Force on port 2222, SQL Injection, and Canary Exfiltration.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VPN Cloaking Test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Validates WebRTC LAN IP de-cloaking, real ephemeral port discovery, and physical GPS coordinate mapping.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Real-Time Verification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Proves that predictive models, honeypot traps, and auto-drop firewall rules work in harmony under realistic cyber conditions.</a:t>
            </a:r>
          </a:p>
          <a:p>
            <a:pPr algn="ctr">
              <a:spcBef>
                <a:spcPts val="600"/>
              </a:spcBef>
              <a:defRPr sz="1050" b="1">
                <a:solidFill>
                  <a:srgbClr val="FDE047"/>
                </a:solidFill>
              </a:defRPr>
            </a:pPr>
            <a:r>
              <a:t>💡 Key Cybersecurity Takeaway: Simulation testing validates that AI classifiers, honeypots, and firewalls work in harmony under realistic cyber combat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249527" y="640080"/>
            <a:ext cx="9692640" cy="5577840"/>
          </a:xfrm>
          <a:prstGeom prst="roundRect">
            <a:avLst/>
          </a:prstGeom>
          <a:solidFill>
            <a:srgbClr val="060A1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06727" y="960120"/>
            <a:ext cx="8778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SLIDE 10 OF 10  •  [ CONCLUSION &amp; IMPACT ]</a:t>
            </a:r>
          </a:p>
          <a:p>
            <a:pPr algn="ctr">
              <a:spcBef>
                <a:spcPts val="400"/>
              </a:spcBef>
              <a:defRPr sz="3000" b="1">
                <a:solidFill>
                  <a:srgbClr val="FFFFFF"/>
                </a:solidFill>
              </a:defRPr>
            </a:pPr>
            <a:r>
              <a:t>The Future of Proactive Cyber Defense</a:t>
            </a:r>
          </a:p>
          <a:p>
            <a:pPr algn="ctr">
              <a:spcAft>
                <a:spcPts val="1400"/>
              </a:spcAft>
              <a:defRPr sz="1300">
                <a:solidFill>
                  <a:srgbClr val="93C5FD"/>
                </a:solidFill>
              </a:defRPr>
            </a:pPr>
            <a:r>
              <a:t>Empowering both enterprise real-time security and next-generation cybersecurity training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Key Architectural Takeaway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CyberShield turns the defender's dilemma upside down: defenders no longer need to be right 100% of the time, because attackers are trapped in illusions.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Dual Purpose Utility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Serves as an autonomous perimeter defense mesh for enterprises, and as a safe digital forensic sandbox for cybersecurity education.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▶ Full Technology Stack</a:t>
            </a:r>
          </a:p>
          <a:p>
            <a:pPr algn="ctr"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Python FastAPI, Scikit-Learn, PyTorch, React, Tailwind CSS, WebSockets, and GPS Geolocation Engine.</a:t>
            </a:r>
          </a:p>
          <a:p>
            <a:pPr algn="ctr">
              <a:spcBef>
                <a:spcPts val="600"/>
              </a:spcBef>
              <a:defRPr sz="1050" b="1">
                <a:solidFill>
                  <a:srgbClr val="FDE047"/>
                </a:solidFill>
              </a:defRPr>
            </a:pPr>
            <a:r>
              <a:t>💡 Key Cybersecurity Takeaway: Deception technology combined with AI prediction represents the next frontier in proactive cyber resilience.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